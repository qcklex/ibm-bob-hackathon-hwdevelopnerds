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1325880"/>
            <a:ext cx="5760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100">
                <a:solidFill>
                  <a:srgbClr val="57606A"/>
                </a:solidFill>
                <a:latin typeface="Arial"/>
              </a:rPr>
              <a:t>IBM Bob 2.0 Hackathon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737360"/>
            <a:ext cx="576072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05000"/>
              </a:lnSpc>
            </a:pPr>
            <a:r>
              <a:rPr sz="4400" b="1">
                <a:solidFill>
                  <a:srgbClr val="1F2328"/>
                </a:solidFill>
                <a:latin typeface="Arial"/>
              </a:rPr>
              <a:t>Mutation-Testing</a:t>
            </a:r>
          </a:p>
          <a:p>
            <a:pPr>
              <a:lnSpc>
                <a:spcPct val="105000"/>
              </a:lnSpc>
            </a:pPr>
            <a:r>
              <a:rPr sz="4400" b="1">
                <a:solidFill>
                  <a:srgbClr val="3B82D4"/>
                </a:solidFill>
                <a:latin typeface="Arial"/>
              </a:rPr>
              <a:t>Improvement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429000"/>
            <a:ext cx="51206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b="0" sz="1500">
                <a:solidFill>
                  <a:srgbClr val="57606A"/>
                </a:solidFill>
                <a:latin typeface="Arial"/>
              </a:rPr>
              <a:t>IBM Bob's </a:t>
            </a:r>
            <a:r>
              <a:rPr b="0" sz="1450">
                <a:solidFill>
                  <a:srgbClr val="57606A"/>
                </a:solidFill>
                <a:latin typeface="Courier New"/>
              </a:rPr>
              <a:t>mutation-climb</a:t>
            </a:r>
            <a:r>
              <a:rPr b="0" sz="1500">
                <a:solidFill>
                  <a:srgbClr val="57606A"/>
                </a:solidFill>
                <a:latin typeface="Arial"/>
              </a:rPr>
              <a:t> skill drives an automated PIT loop that turns surviving mutants into precise test targets, lifting the mutation score from 82% to 95.8%.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937760"/>
            <a:ext cx="17373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2800">
                <a:solidFill>
                  <a:srgbClr val="1F2328"/>
                </a:solidFill>
                <a:latin typeface="Arial"/>
              </a:rP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44068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000">
                <a:solidFill>
                  <a:srgbClr val="57606A"/>
                </a:solidFill>
                <a:latin typeface="Arial"/>
              </a:rPr>
              <a:t>Mutation score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4937760"/>
            <a:ext cx="17373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2800">
                <a:solidFill>
                  <a:srgbClr val="16A34A"/>
                </a:solidFill>
                <a:latin typeface="Arial"/>
              </a:rPr>
              <a:t>95.8%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544068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000">
                <a:solidFill>
                  <a:srgbClr val="57606A"/>
                </a:solidFill>
                <a:latin typeface="Arial"/>
              </a:rPr>
              <a:t>Mutation score 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456" y="5029200"/>
            <a:ext cx="10972" cy="6400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07992" y="4937760"/>
            <a:ext cx="17373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2800">
                <a:solidFill>
                  <a:srgbClr val="1F2328"/>
                </a:solidFill>
                <a:latin typeface="Arial"/>
              </a:rPr>
              <a:t>48 →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5440680"/>
            <a:ext cx="1737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000">
                <a:solidFill>
                  <a:srgbClr val="57606A"/>
                </a:solidFill>
                <a:latin typeface="Arial"/>
              </a:rPr>
              <a:t>Surviving mutants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5029200"/>
            <a:ext cx="10972" cy="6400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583680" y="1781937"/>
            <a:ext cx="4846320" cy="3111246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891665"/>
            <a:ext cx="4626864" cy="28917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23360" y="6446520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Made with IBM Bob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38404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MUTATION-TESTING IMPROVEMENT LOOP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6070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000" b="1">
                <a:solidFill>
                  <a:srgbClr val="1F2328"/>
                </a:solidFill>
                <a:latin typeface="Arial"/>
              </a:rPr>
              <a:t>The Problem: </a:t>
            </a:r>
            <a:r>
              <a:rPr sz="3000" b="1">
                <a:solidFill>
                  <a:srgbClr val="3B82D4"/>
                </a:solidFill>
                <a:latin typeface="Arial"/>
              </a:rPr>
              <a:t>Line Coverage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0020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b="0" sz="1200">
                <a:solidFill>
                  <a:srgbClr val="57606A"/>
                </a:solidFill>
                <a:latin typeface="Arial"/>
              </a:rPr>
              <a:t>A Java utility library ships with a 95% line-coverage score — green across the board. But line coverage only proves a line was </a:t>
            </a:r>
            <a:r>
              <a:rPr i="1" b="0" sz="1200">
                <a:solidFill>
                  <a:srgbClr val="57606A"/>
                </a:solidFill>
                <a:latin typeface="Arial"/>
              </a:rPr>
              <a:t>executed</a:t>
            </a:r>
            <a:r>
              <a:rPr b="0" sz="1200">
                <a:solidFill>
                  <a:srgbClr val="57606A"/>
                </a:solidFill>
                <a:latin typeface="Arial"/>
              </a:rPr>
              <a:t>, not that any assertion actually validates the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51206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b="0" sz="1200">
                <a:solidFill>
                  <a:srgbClr val="57606A"/>
                </a:solidFill>
                <a:latin typeface="Arial"/>
              </a:rPr>
              <a:t>Running PIT mutation testing reveals the real picture: each mutant is a deliberately broken variant of the code. If the test suite doesn't notice, the mutation </a:t>
            </a:r>
            <a:r>
              <a:rPr i="1" b="0" sz="1200">
                <a:solidFill>
                  <a:srgbClr val="57606A"/>
                </a:solidFill>
                <a:latin typeface="Arial"/>
              </a:rPr>
              <a:t>survives</a:t>
            </a:r>
            <a:r>
              <a:rPr b="0" sz="1200">
                <a:solidFill>
                  <a:srgbClr val="57606A"/>
                </a:solidFill>
                <a:latin typeface="Arial"/>
              </a:rPr>
              <a:t>. At baseline: </a:t>
            </a:r>
            <a:r>
              <a:rPr b="1" sz="1200">
                <a:solidFill>
                  <a:srgbClr val="1F2328"/>
                </a:solidFill>
                <a:latin typeface="Arial"/>
              </a:rPr>
              <a:t>82% of mutants were killed. 18% slipped through.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4023360"/>
            <a:ext cx="5120640" cy="1143000"/>
          </a:xfrm>
          <a:prstGeom prst="rect">
            <a:avLst/>
          </a:prstGeom>
          <a:solidFill>
            <a:srgbClr val="EE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58952" y="4023360"/>
            <a:ext cx="45720" cy="114300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" y="4096512"/>
            <a:ext cx="4846320" cy="9966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The gap:</a:t>
            </a:r>
            <a:r>
              <a:rPr b="0" sz="1150">
                <a:solidFill>
                  <a:srgbClr val="374151"/>
                </a:solidFill>
                <a:latin typeface="Arial"/>
              </a:rPr>
              <a:t> 95% line coverage  ·  82% mutation score.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150">
                <a:solidFill>
                  <a:srgbClr val="374151"/>
                </a:solidFill>
                <a:latin typeface="Arial"/>
              </a:rPr>
              <a:t>Roughly </a:t>
            </a:r>
            <a:r>
              <a:rPr b="1" sz="1150">
                <a:solidFill>
                  <a:srgbClr val="1F2328"/>
                </a:solidFill>
                <a:latin typeface="Arial"/>
              </a:rPr>
              <a:t>1 in 5 logic mutations</a:t>
            </a:r>
            <a:r>
              <a:rPr b="0" sz="1150">
                <a:solidFill>
                  <a:srgbClr val="374151"/>
                </a:solidFill>
                <a:latin typeface="Arial"/>
              </a:rPr>
              <a:t> survives undetected — the lines execute, but nothing asserts the outcome tightly enough.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1600200"/>
          <a:ext cx="5074920" cy="1975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502920"/>
                <a:gridCol w="31089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850">
                          <a:solidFill>
                            <a:srgbClr val="9CA3B0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850">
                          <a:solidFill>
                            <a:srgbClr val="9CA3B0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850">
                          <a:solidFill>
                            <a:srgbClr val="9CA3B0"/>
                          </a:solidFill>
                          <a:latin typeface="Arial"/>
                        </a:rPr>
                        <a:t>WHY IT SURVIVES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MoneyUtils.java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Test covers the line but never hits the exact boundary value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Validators.java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Overload is never called — marked </a:t>
                      </a: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NO_COVERAGE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SimpleCache.java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Happy-path test never exercises the expiry branch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55080" y="411480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1609344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1" sz="2600">
                <a:solidFill>
                  <a:srgbClr val="3B82D4"/>
                </a:solidFill>
                <a:latin typeface="Arial"/>
              </a:rPr>
              <a:t>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754880"/>
            <a:ext cx="16093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0" sz="750">
                <a:solidFill>
                  <a:srgbClr val="9CA3B0"/>
                </a:solidFill>
                <a:latin typeface="Arial"/>
              </a:rPr>
              <a:t>MUTANTS GENERATED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411480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74152" y="4206240"/>
            <a:ext cx="1609344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1" sz="2600">
                <a:solidFill>
                  <a:srgbClr val="DC2626"/>
                </a:solidFill>
                <a:latin typeface="Arial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754880"/>
            <a:ext cx="16093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0" sz="750">
                <a:solidFill>
                  <a:srgbClr val="9CA3B0"/>
                </a:solidFill>
                <a:latin typeface="Arial"/>
              </a:rPr>
              <a:t>SURVIVORS (BASELINE)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3224" y="4114800"/>
            <a:ext cx="1609344" cy="10515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793224" y="4206240"/>
            <a:ext cx="1609344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1" sz="2600">
                <a:solidFill>
                  <a:srgbClr val="1F2328"/>
                </a:solidFill>
                <a:latin typeface="Arial"/>
              </a:rPr>
              <a:t>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4754880"/>
            <a:ext cx="16093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0" sz="750">
                <a:solidFill>
                  <a:srgbClr val="9CA3B0"/>
                </a:solidFill>
                <a:latin typeface="Arial"/>
              </a:rPr>
              <a:t>MUTATION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38404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MUTATION-TESTING IMPROVEMENT LOOP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6070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000" b="1">
                <a:solidFill>
                  <a:srgbClr val="1F2328"/>
                </a:solidFill>
                <a:latin typeface="Arial"/>
              </a:rPr>
              <a:t>The Approach: </a:t>
            </a:r>
            <a:r>
              <a:rPr sz="3000" b="1">
                <a:solidFill>
                  <a:srgbClr val="3B82D4"/>
                </a:solidFill>
                <a:latin typeface="Arial"/>
              </a:rPr>
              <a:t>Automated Kill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0020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b="0" sz="1200">
                <a:solidFill>
                  <a:srgbClr val="57606A"/>
                </a:solidFill>
                <a:latin typeface="Arial"/>
              </a:rPr>
              <a:t>Each round is driven by a single shell command. IBM Bob's </a:t>
            </a:r>
            <a:r>
              <a:rPr b="1" sz="1200">
                <a:solidFill>
                  <a:srgbClr val="1F2328"/>
                </a:solidFill>
                <a:latin typeface="Arial"/>
              </a:rPr>
              <a:t>mutation-climb skill</a:t>
            </a:r>
            <a:r>
              <a:rPr b="0" sz="1200">
                <a:solidFill>
                  <a:srgbClr val="57606A"/>
                </a:solidFill>
                <a:latin typeface="Arial"/>
              </a:rPr>
              <a:t> runs the loop autonomously — reading survivors, writing targeted tests, and re-running PIT until the score plateaus or the target is reached.</a:t>
            </a:r>
          </a:p>
        </p:txBody>
      </p:sp>
      <p:sp>
        <p:nvSpPr>
          <p:cNvPr id="7" name="Oval 6"/>
          <p:cNvSpPr/>
          <p:nvPr/>
        </p:nvSpPr>
        <p:spPr>
          <a:xfrm>
            <a:off x="758952" y="2633472"/>
            <a:ext cx="310896" cy="31089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606040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Run PIT via </a:t>
            </a:r>
            <a:r>
              <a:rPr b="1" sz="1100">
                <a:solidFill>
                  <a:srgbClr val="1F2328"/>
                </a:solidFill>
                <a:latin typeface="Courier New"/>
              </a:rPr>
              <a:t>sh run_round.sh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880360"/>
            <a:ext cx="49377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Compiles the project, executes mutation analysis, writes raw XML to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pit-output.txt</a:t>
            </a:r>
            <a:r>
              <a:rPr b="0" sz="1050">
                <a:solidFill>
                  <a:srgbClr val="57606A"/>
                </a:solidFill>
                <a:latin typeface="Arial"/>
              </a:rPr>
              <a:t> and copies it to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toolkit/mutations.xml</a:t>
            </a:r>
            <a:r>
              <a:rPr b="0" sz="1050">
                <a:solidFill>
                  <a:srgbClr val="57606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58952" y="3566160"/>
            <a:ext cx="310896" cy="31089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538728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Parse survivors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813048"/>
            <a:ext cx="49377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00">
                <a:solidFill>
                  <a:srgbClr val="57606A"/>
                </a:solidFill>
                <a:latin typeface="Courier New"/>
              </a:rPr>
              <a:t>report.py</a:t>
            </a:r>
            <a:r>
              <a:rPr b="0" sz="1050">
                <a:solidFill>
                  <a:srgbClr val="57606A"/>
                </a:solidFill>
                <a:latin typeface="Arial"/>
              </a:rPr>
              <a:t> converts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mutations.xml</a:t>
            </a:r>
            <a:r>
              <a:rPr b="0" sz="1050">
                <a:solidFill>
                  <a:srgbClr val="57606A"/>
                </a:solidFill>
                <a:latin typeface="Arial"/>
              </a:rPr>
              <a:t> into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survivors.md</a:t>
            </a:r>
            <a:r>
              <a:rPr b="0" sz="1050">
                <a:solidFill>
                  <a:srgbClr val="57606A"/>
                </a:solidFill>
                <a:latin typeface="Arial"/>
              </a:rPr>
              <a:t> and appends a row to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rounds.csv</a:t>
            </a:r>
            <a:r>
              <a:rPr b="0" sz="1050">
                <a:solidFill>
                  <a:srgbClr val="57606A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4498848"/>
            <a:ext cx="310896" cy="31089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4471416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Bob reads survivors and writes targeted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745736"/>
            <a:ext cx="49377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Each surviving mutant is a concrete, precise test target — boundary assertion, missing overload call, or time-advance test for expiry logic.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" y="5431536"/>
            <a:ext cx="310896" cy="31089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40410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Repeat until score plateaus or target is reached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5678424"/>
            <a:ext cx="49377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Every round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survivors.md</a:t>
            </a:r>
            <a:r>
              <a:rPr b="0" sz="1050">
                <a:solidFill>
                  <a:srgbClr val="57606A"/>
                </a:solidFill>
                <a:latin typeface="Arial"/>
              </a:rPr>
              <a:t> shrinks and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chart.png</a:t>
            </a:r>
            <a:r>
              <a:rPr b="0" sz="1050">
                <a:solidFill>
                  <a:srgbClr val="57606A"/>
                </a:solidFill>
                <a:latin typeface="Arial"/>
              </a:rPr>
              <a:t> updates. Goal: mutation score ≥ 90%.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600200"/>
            <a:ext cx="4846320" cy="1554480"/>
          </a:xfrm>
          <a:prstGeom prst="rect">
            <a:avLst/>
          </a:prstGeom>
          <a:solidFill>
            <a:srgbClr val="EE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1600200"/>
            <a:ext cx="45720" cy="155448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48272" y="1673352"/>
            <a:ext cx="4572000" cy="14081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1" sz="1100">
                <a:solidFill>
                  <a:srgbClr val="1F2328"/>
                </a:solidFill>
                <a:latin typeface="Arial"/>
              </a:rPr>
              <a:t>Why this works: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100">
                <a:solidFill>
                  <a:srgbClr val="374151"/>
                </a:solidFill>
                <a:latin typeface="Arial"/>
              </a:rPr>
              <a:t>PIT survivors are not vague "untested paths" — they are exact file, line, and mutation-type tuples. Bob can read the tuple, read the source, and write the one assertion that kills it. No guesswork, no redundant tests.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0" y="3520440"/>
          <a:ext cx="4846320" cy="1975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52044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850">
                          <a:solidFill>
                            <a:srgbClr val="9CA3B0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850">
                          <a:solidFill>
                            <a:srgbClr val="9CA3B0"/>
                          </a:solidFill>
                          <a:latin typeface="Arial"/>
                        </a:rPr>
                        <a:t>ROUND-BY-ROUND OUTPUT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survivors.md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Ranked list of still-alive mutants with file, line, and type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rounds.csv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Append-only log of line coverage and mutation score per round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chart.png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00">
                          <a:solidFill>
                            <a:srgbClr val="374151"/>
                          </a:solidFill>
                          <a:latin typeface="Arial"/>
                        </a:rPr>
                        <a:t>Visual progress curve across all rounds; regenerated by </a:t>
                      </a:r>
                      <a:r>
                        <a:rPr b="0" sz="950">
                          <a:solidFill>
                            <a:srgbClr val="374151"/>
                          </a:solidFill>
                          <a:latin typeface="Courier New"/>
                        </a:rPr>
                        <a:t>chart.py</a:t>
                      </a:r>
                    </a:p>
                  </a:txBody>
                  <a:tcPr marL="54864" marR="54864" marT="36576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38404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MUTATION-TESTING IMPROVEMENT LOOP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6070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000" b="1">
                <a:solidFill>
                  <a:srgbClr val="1F2328"/>
                </a:solidFill>
                <a:latin typeface="Arial"/>
              </a:rPr>
              <a:t>How </a:t>
            </a:r>
            <a:r>
              <a:rPr sz="3000" b="1">
                <a:solidFill>
                  <a:srgbClr val="3B82D4"/>
                </a:solidFill>
                <a:latin typeface="Arial"/>
              </a:rPr>
              <a:t>IBM Bob</a:t>
            </a:r>
            <a:r>
              <a:rPr sz="3000" b="1">
                <a:solidFill>
                  <a:srgbClr val="1F2328"/>
                </a:solidFill>
                <a:latin typeface="Arial"/>
              </a:rPr>
              <a:t>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50876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200">
                <a:solidFill>
                  <a:srgbClr val="57606A"/>
                </a:solidFill>
                <a:latin typeface="Arial"/>
              </a:rPr>
              <a:t>Three Bob capabilities work together to make the loop autonomous: a domain skill, a custom mode, and parallel subagents.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3429000" cy="416052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41832" y="2212848"/>
            <a:ext cx="681228" cy="237744"/>
          </a:xfrm>
          <a:prstGeom prst="roundRect">
            <a:avLst>
              <a:gd name="adj" fmla="val 3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750">
                <a:solidFill>
                  <a:srgbClr val="3B82D4"/>
                </a:solidFill>
                <a:latin typeface="Arial"/>
              </a:rPr>
              <a:t>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60320"/>
            <a:ext cx="3063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350">
                <a:solidFill>
                  <a:srgbClr val="1F2328"/>
                </a:solidFill>
                <a:latin typeface="Arial"/>
              </a:rPr>
              <a:t>mutation-climb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26080"/>
            <a:ext cx="30632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A Bob skill stored at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.bob/skills/mutation-climb/SKILL.md</a:t>
            </a:r>
            <a:r>
              <a:rPr b="0" sz="1050">
                <a:solidFill>
                  <a:srgbClr val="57606A"/>
                </a:solidFill>
                <a:latin typeface="Arial"/>
              </a:rPr>
              <a:t>. It encodes the domain knowledge: how to read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survivors.md</a:t>
            </a:r>
            <a:r>
              <a:rPr b="0" sz="1050">
                <a:solidFill>
                  <a:srgbClr val="57606A"/>
                </a:solidFill>
                <a:latin typeface="Arial"/>
              </a:rPr>
              <a:t>, how to rank mutants by kill probability, and which test patterns map to which mutation types (conditional-boundary, negated-conditional, return-value substitution).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Activated at the start of a session — Bob loads the full protocol and proceeds without further prompting.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5779008"/>
            <a:ext cx="3063240" cy="292608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b="0" sz="900">
                <a:solidFill>
                  <a:srgbClr val="374151"/>
                </a:solidFill>
                <a:latin typeface="Courier New"/>
              </a:rPr>
              <a:t>/mutation-climb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416052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72000" y="2212848"/>
            <a:ext cx="1147572" cy="237744"/>
          </a:xfrm>
          <a:prstGeom prst="roundRect">
            <a:avLst>
              <a:gd name="adj" fmla="val 3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750">
                <a:solidFill>
                  <a:srgbClr val="7C5CD8"/>
                </a:solidFill>
                <a:latin typeface="Arial"/>
              </a:rPr>
              <a:t>CUSTOM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63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350">
                <a:solidFill>
                  <a:srgbClr val="1F2328"/>
                </a:solidFill>
                <a:latin typeface="Arial"/>
              </a:rPr>
              <a:t>Test Engineer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0632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A lean Bob mode that restricts the tool palette to exactly what mutation testing needs: file reads, grep, test edits, and the Maven command runner. It prevents Bob from touching production code or files outside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src/test/java/</a:t>
            </a:r>
            <a:r>
              <a:rPr b="0" sz="1050">
                <a:solidFill>
                  <a:srgbClr val="57606A"/>
                </a:solidFill>
                <a:latin typeface="Arial"/>
              </a:rPr>
              <a:t>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The mode sets a role definition that primes Bob to think like a test author focused on assertion quality, not coverage percentage.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79008"/>
            <a:ext cx="3063240" cy="292608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b="0" sz="900">
                <a:solidFill>
                  <a:srgbClr val="374151"/>
                </a:solidFill>
                <a:latin typeface="Courier New"/>
              </a:rPr>
              <a:t>mode: test-engineer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2057400"/>
            <a:ext cx="3429000" cy="416052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202167" y="2212848"/>
            <a:ext cx="992124" cy="237744"/>
          </a:xfrm>
          <a:prstGeom prst="roundRect">
            <a:avLst>
              <a:gd name="adj" fmla="val 3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750">
                <a:solidFill>
                  <a:srgbClr val="7C5CD8"/>
                </a:solidFill>
                <a:latin typeface="Arial"/>
              </a:rPr>
              <a:t>SUBAGENTS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560320"/>
            <a:ext cx="3063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350">
                <a:solidFill>
                  <a:srgbClr val="1F2328"/>
                </a:solidFill>
                <a:latin typeface="Arial"/>
              </a:rPr>
              <a:t>Parallel survivor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926080"/>
            <a:ext cx="30632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When a round produces a large survivor list, Bob spawns independent subagents — one per class under test (</a:t>
            </a:r>
            <a:r>
              <a:rPr b="0" sz="1000">
                <a:solidFill>
                  <a:srgbClr val="57606A"/>
                </a:solidFill>
                <a:latin typeface="Courier New"/>
              </a:rPr>
              <a:t>MoneyUtils</a:t>
            </a:r>
            <a:r>
              <a:rPr b="0" sz="1050">
                <a:solidFill>
                  <a:srgbClr val="57606A"/>
                </a:solidFill>
                <a:latin typeface="Arial"/>
              </a:rPr>
              <a:t>,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Validators</a:t>
            </a:r>
            <a:r>
              <a:rPr b="0" sz="1050">
                <a:solidFill>
                  <a:srgbClr val="57606A"/>
                </a:solidFill>
                <a:latin typeface="Arial"/>
              </a:rPr>
              <a:t>,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SimpleCache</a:t>
            </a:r>
            <a:r>
              <a:rPr b="0" sz="1050">
                <a:solidFill>
                  <a:srgbClr val="57606A"/>
                </a:solidFill>
                <a:latin typeface="Arial"/>
              </a:rPr>
              <a:t>, etc.). Each subagent reads its class, reads the surviving mutants for that class, and returns a list of targeted test patches.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The parent agent merges the results and writes a single coherent test file — parallel analysis, serial commit.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7" y="5779008"/>
            <a:ext cx="3063240" cy="292608"/>
          </a:xfrm>
          <a:prstGeom prst="roundRect">
            <a:avLst>
              <a:gd name="adj" fmla="val 15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b="0" sz="900">
                <a:solidFill>
                  <a:srgbClr val="374151"/>
                </a:solidFill>
                <a:latin typeface="Courier New"/>
              </a:rPr>
              <a:t>spawn_subagent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38404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MUTATION-TESTING IMPROVEMENT LOOP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6070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000" b="1">
                <a:solidFill>
                  <a:srgbClr val="1F2328"/>
                </a:solidFill>
                <a:latin typeface="Arial"/>
              </a:rPr>
              <a:t>Results: </a:t>
            </a:r>
            <a:r>
              <a:rPr sz="3000" b="1">
                <a:solidFill>
                  <a:srgbClr val="3B82D4"/>
                </a:solidFill>
                <a:latin typeface="Arial"/>
              </a:rPr>
              <a:t>4 Rounds, +14.0 pp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4 / 5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45920"/>
            <a:ext cx="603504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600200"/>
            <a:ext cx="42519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00">
                <a:solidFill>
                  <a:srgbClr val="57606A"/>
                </a:solidFill>
                <a:latin typeface="Arial"/>
              </a:rPr>
              <a:t>All numbers sourced from </a:t>
            </a:r>
            <a:r>
              <a:rPr b="0" sz="950">
                <a:solidFill>
                  <a:srgbClr val="57606A"/>
                </a:solidFill>
                <a:latin typeface="Courier New"/>
              </a:rPr>
              <a:t>rounds.csv</a:t>
            </a:r>
            <a:r>
              <a:rPr b="0" sz="1000">
                <a:solidFill>
                  <a:srgbClr val="57606A"/>
                </a:solidFill>
                <a:latin typeface="Arial"/>
              </a:rPr>
              <a:t> (round 4) and </a:t>
            </a:r>
            <a:r>
              <a:rPr b="0" sz="950">
                <a:solidFill>
                  <a:srgbClr val="57606A"/>
                </a:solidFill>
                <a:latin typeface="Courier New"/>
              </a:rPr>
              <a:t>survivors.md</a:t>
            </a:r>
            <a:r>
              <a:rPr b="0" sz="1000">
                <a:solidFill>
                  <a:srgbClr val="57606A"/>
                </a:solidFill>
                <a:latin typeface="Arial"/>
              </a:rPr>
              <a:t>. Mutant total held constant at 264 throughout — the library code never changed, only the tests. Every figure reproduces from a clean clone.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31720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1" sz="800">
                <a:solidFill>
                  <a:srgbClr val="9CA3B0"/>
                </a:solidFill>
                <a:latin typeface="Arial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331720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1" sz="800">
                <a:solidFill>
                  <a:srgbClr val="9CA3B0"/>
                </a:solidFill>
                <a:latin typeface="Arial"/>
              </a:rPr>
              <a:t>ROUND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651760"/>
            <a:ext cx="1463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050">
                <a:solidFill>
                  <a:srgbClr val="374151"/>
                </a:solidFill>
                <a:latin typeface="Arial"/>
              </a:rPr>
              <a:t>Line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6517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DC2626"/>
                </a:solidFill>
                <a:latin typeface="Arial"/>
              </a:rPr>
              <a:t>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6517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6A34A"/>
                </a:solidFill>
                <a:latin typeface="Arial"/>
              </a:rP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108960"/>
            <a:ext cx="1463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050">
                <a:solidFill>
                  <a:srgbClr val="374151"/>
                </a:solidFill>
                <a:latin typeface="Arial"/>
              </a:rPr>
              <a:t>Mutation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1089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DC2626"/>
                </a:solidFill>
                <a:latin typeface="Arial"/>
              </a:rPr>
              <a:t>82%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1089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6A34A"/>
                </a:solidFill>
                <a:latin typeface="Arial"/>
              </a:rPr>
              <a:t>95.8%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566160"/>
            <a:ext cx="1463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050">
                <a:solidFill>
                  <a:srgbClr val="374151"/>
                </a:solidFill>
                <a:latin typeface="Arial"/>
              </a:rPr>
              <a:t>Mutants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5661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374151"/>
                </a:solidFill>
                <a:latin typeface="Arial"/>
              </a:rPr>
              <a:t>264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5661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374151"/>
                </a:solidFill>
                <a:latin typeface="Arial"/>
              </a:rPr>
              <a:t>264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023360"/>
            <a:ext cx="1463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050">
                <a:solidFill>
                  <a:srgbClr val="374151"/>
                </a:solidFill>
                <a:latin typeface="Arial"/>
              </a:rPr>
              <a:t>Survivors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0233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DC2626"/>
                </a:solidFill>
                <a:latin typeface="Arial"/>
              </a:rPr>
              <a:t>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4023360"/>
            <a:ext cx="1280160" cy="329184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b="1" sz="1100">
                <a:solidFill>
                  <a:srgbClr val="16A34A"/>
                </a:solidFill>
                <a:latin typeface="Arial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4617720"/>
            <a:ext cx="4251960" cy="1234440"/>
          </a:xfrm>
          <a:prstGeom prst="rect">
            <a:avLst/>
          </a:prstGeom>
          <a:solidFill>
            <a:srgbClr val="EE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178040" y="4617720"/>
            <a:ext cx="45720" cy="123444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42631" y="4690872"/>
            <a:ext cx="3977640" cy="10881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1" sz="1050">
                <a:solidFill>
                  <a:srgbClr val="1F2328"/>
                </a:solidFill>
                <a:latin typeface="Arial"/>
              </a:rPr>
              <a:t>+14.0 pp</a:t>
            </a:r>
            <a:r>
              <a:rPr b="0" sz="1050">
                <a:solidFill>
                  <a:srgbClr val="374151"/>
                </a:solidFill>
                <a:latin typeface="Arial"/>
              </a:rPr>
              <a:t> mutation score improvement over 4 measured rounds. More than </a:t>
            </a:r>
            <a:r>
              <a:rPr b="1" sz="1050">
                <a:solidFill>
                  <a:srgbClr val="1F2328"/>
                </a:solidFill>
                <a:latin typeface="Arial"/>
              </a:rPr>
              <a:t>77% of previously surviving mutants</a:t>
            </a:r>
            <a:r>
              <a:rPr b="0" sz="1050">
                <a:solidFill>
                  <a:srgbClr val="374151"/>
                </a:solidFill>
                <a:latin typeface="Arial"/>
              </a:rPr>
              <a:t> are now killed (48 → 11). Line coverage climbed from 95% to 99%.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58952" y="38404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MUTATION-TESTING IMPROVEMENT LOOP  ·  HWDEVELOPNERDS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060704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000" b="1">
                <a:solidFill>
                  <a:srgbClr val="1F2328"/>
                </a:solidFill>
                <a:latin typeface="Arial"/>
              </a:rPr>
              <a:t>What Is </a:t>
            </a:r>
            <a:r>
              <a:rPr sz="3000" b="1">
                <a:solidFill>
                  <a:srgbClr val="3B82D4"/>
                </a:solidFill>
                <a:latin typeface="Arial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50876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0" sz="1200">
                <a:solidFill>
                  <a:srgbClr val="57606A"/>
                </a:solidFill>
                <a:latin typeface="Arial"/>
              </a:rPr>
              <a:t>The loop proved the concept on a small utility library. The following steps scale it to real-world projects and make the skill generally reusable.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1031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60120" y="2304288"/>
            <a:ext cx="128016" cy="12801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16152" y="22128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Close the last killable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5146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Seven of the 11 remaining survivors are equivalent mutants that no test can kill. The other four, including two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NO_COVERAGE</a:t>
            </a:r>
            <a:r>
              <a:rPr b="0" sz="1050">
                <a:solidFill>
                  <a:srgbClr val="57606A"/>
                </a:solidFill>
                <a:latin typeface="Arial"/>
              </a:rPr>
              <a:t> methods in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Validators</a:t>
            </a:r>
            <a:r>
              <a:rPr b="0" sz="1050">
                <a:solidFill>
                  <a:srgbClr val="57606A"/>
                </a:solidFill>
                <a:latin typeface="Arial"/>
              </a:rPr>
              <a:t>, are the next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1031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00800" y="2304288"/>
            <a:ext cx="128016" cy="128016"/>
          </a:xfrm>
          <a:prstGeom prst="ellipse">
            <a:avLst/>
          </a:prstGeom>
          <a:solidFill>
            <a:srgbClr val="7C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56832" y="22128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Publish mutation-climb as a shared Bob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5146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Package the skill with a generic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run_round.sh</a:t>
            </a:r>
            <a:r>
              <a:rPr b="0" sz="1050">
                <a:solidFill>
                  <a:srgbClr val="57606A"/>
                </a:solidFill>
                <a:latin typeface="Arial"/>
              </a:rPr>
              <a:t> template so any Java Maven project can adopt the loop with a single copy-paste.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4747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60120" y="3675887"/>
            <a:ext cx="128016" cy="12801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16152" y="35844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Extend to other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862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The skill protocol is language-agnostic at the Bob layer. Swap PIT for Stryker (JS/TS) or mutmut (Python) and the loop runs unchanged — only the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run_round.sh</a:t>
            </a:r>
            <a:r>
              <a:rPr b="0" sz="1050">
                <a:solidFill>
                  <a:srgbClr val="57606A"/>
                </a:solidFill>
                <a:latin typeface="Arial"/>
              </a:rPr>
              <a:t> adapter differs.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4747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00800" y="3675887"/>
            <a:ext cx="128016" cy="128016"/>
          </a:xfrm>
          <a:prstGeom prst="ellipse">
            <a:avLst/>
          </a:prstGeom>
          <a:solidFill>
            <a:srgbClr val="7C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56832" y="35844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CI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8862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Add a GitHub Actions workflow that runs PIT on every pull request, comments the mutation delta, and blocks merge if score regresses below the previous round's baseline.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48463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60120" y="5047488"/>
            <a:ext cx="128016" cy="128016"/>
          </a:xfrm>
          <a:prstGeom prst="ellipse">
            <a:avLst/>
          </a:prstGeom>
          <a:solidFill>
            <a:srgbClr val="3B8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16152" y="49560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Survivor-based PR review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2578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A Bob custom mode that reads the diff of an incoming PR and flags any new code path not covered by a mutation-killing assertion — catching test-coverage debt at review time, not post-merge.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846320"/>
            <a:ext cx="5230368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00800" y="5047488"/>
            <a:ext cx="128016" cy="128016"/>
          </a:xfrm>
          <a:prstGeom prst="ellipse">
            <a:avLst/>
          </a:prstGeom>
          <a:solidFill>
            <a:srgbClr val="7C5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56832" y="4956048"/>
            <a:ext cx="4617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b="1" sz="1150">
                <a:solidFill>
                  <a:srgbClr val="1F2328"/>
                </a:solidFill>
                <a:latin typeface="Arial"/>
              </a:rPr>
              <a:t>Benchmark Bob models on test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5257800"/>
            <a:ext cx="46177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b="0" sz="1050">
                <a:solidFill>
                  <a:srgbClr val="57606A"/>
                </a:solidFill>
                <a:latin typeface="Arial"/>
              </a:rPr>
              <a:t>Use the reproducible </a:t>
            </a:r>
            <a:r>
              <a:rPr b="0" sz="1000">
                <a:solidFill>
                  <a:srgbClr val="57606A"/>
                </a:solidFill>
                <a:latin typeface="Courier New"/>
              </a:rPr>
              <a:t>rounds.csv</a:t>
            </a:r>
            <a:r>
              <a:rPr b="0" sz="1050">
                <a:solidFill>
                  <a:srgbClr val="57606A"/>
                </a:solidFill>
                <a:latin typeface="Arial"/>
              </a:rPr>
              <a:t> metric as a cross-model benchmark — run the same survivor list through multiple models and compare how many mutants each kills per round.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6446520"/>
            <a:ext cx="4114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b="0" sz="850">
                <a:solidFill>
                  <a:srgbClr val="9CA3B0"/>
                </a:solidFill>
                <a:latin typeface="Arial"/>
              </a:rPr>
              <a:t>Made with IBM 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